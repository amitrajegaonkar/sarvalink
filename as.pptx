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Lst>
  <p:notesMasterIdLst>
    <p:notesMasterId r:id="rId8"/>
  </p:notesMasterIdLst>
  <p:sldIdLst>
    <p:sldId id="291" r:id="rId3"/>
    <p:sldId id="281" r:id="rId4"/>
    <p:sldId id="290" r:id="rId5"/>
    <p:sldId id="293" r:id="rId6"/>
    <p:sldId id="294"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0073FF"/>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9:06:43.627"/>
    </inkml:context>
    <inkml:brush xml:id="br0">
      <inkml:brushProperty name="width" value="0.05" units="cm"/>
      <inkml:brushProperty name="height" value="0.0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0792E3-D524-454C-8AFD-A91972900BCB}" type="datetime1">
              <a:rPr lang="en-US" smtClean="0"/>
              <a:t>10/19/2024</a:t>
            </a:fld>
            <a:endParaRPr lang="en-US"/>
          </a:p>
        </p:txBody>
      </p:sp>
      <p:sp>
        <p:nvSpPr>
          <p:cNvPr id="5" name="Footer Placeholder 4"/>
          <p:cNvSpPr>
            <a:spLocks noGrp="1"/>
          </p:cNvSpPr>
          <p:nvPr>
            <p:ph type="ftr" sz="quarter" idx="11"/>
          </p:nvPr>
        </p:nvSpPr>
        <p:spPr>
          <a:xfrm>
            <a:off x="5332412" y="5883275"/>
            <a:ext cx="4324044" cy="365125"/>
          </a:xfrm>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5B7E1BAA-A38D-40DE-B22C-DF9BD7D82058}" type="slidenum">
              <a:rPr lang="en-US" smtClean="0"/>
              <a:pPr/>
              <a:t>‹#›</a:t>
            </a:fld>
            <a:endParaRPr lang="en-US"/>
          </a:p>
        </p:txBody>
      </p:sp>
    </p:spTree>
    <p:extLst>
      <p:ext uri="{BB962C8B-B14F-4D97-AF65-F5344CB8AC3E}">
        <p14:creationId xmlns:p14="http://schemas.microsoft.com/office/powerpoint/2010/main" val="3949236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8B7524-32A2-4C20-A58C-BC3BAA1042FC}"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a:xfrm>
            <a:off x="10951856" y="5867131"/>
            <a:ext cx="551167" cy="365125"/>
          </a:xfrm>
        </p:spPr>
        <p:txBody>
          <a:bodyPr/>
          <a:lstStyle/>
          <a:p>
            <a:fld id="{677C3CE7-23F7-4828-823C-E0205DF2CF97}" type="slidenum">
              <a:rPr lang="en-US" smtClean="0"/>
              <a:pPr/>
              <a:t>‹#›</a:t>
            </a:fld>
            <a:endParaRPr lang="en-US"/>
          </a:p>
        </p:txBody>
      </p:sp>
    </p:spTree>
    <p:extLst>
      <p:ext uri="{BB962C8B-B14F-4D97-AF65-F5344CB8AC3E}">
        <p14:creationId xmlns:p14="http://schemas.microsoft.com/office/powerpoint/2010/main" val="1667919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994447-D6B2-43BB-A877-57F1A267B999}"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41DB31D2-2A87-4F4C-A9AD-05C6CC2B321D}" type="slidenum">
              <a:rPr lang="en-US" smtClean="0"/>
              <a:pPr/>
              <a:t>‹#›</a:t>
            </a:fld>
            <a:endParaRPr lang="en-US"/>
          </a:p>
        </p:txBody>
      </p:sp>
    </p:spTree>
    <p:extLst>
      <p:ext uri="{BB962C8B-B14F-4D97-AF65-F5344CB8AC3E}">
        <p14:creationId xmlns:p14="http://schemas.microsoft.com/office/powerpoint/2010/main" val="524651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920E16-BD35-483C-AA6B-346FC7E46DEA}" type="datetime1">
              <a:rPr lang="en-US" smtClean="0"/>
              <a:t>10/19/2024</a:t>
            </a:fld>
            <a:endParaRPr lang="en-US"/>
          </a:p>
        </p:txBody>
      </p:sp>
      <p:sp>
        <p:nvSpPr>
          <p:cNvPr id="6" name="Footer Placeholder 5"/>
          <p:cNvSpPr>
            <a:spLocks noGrp="1"/>
          </p:cNvSpPr>
          <p:nvPr>
            <p:ph type="ftr" sz="quarter" idx="11"/>
          </p:nvPr>
        </p:nvSpPr>
        <p:spPr/>
        <p:txBody>
          <a:bodyPr/>
          <a:lstStyle/>
          <a:p>
            <a:pPr>
              <a:defRPr/>
            </a:pPr>
            <a:r>
              <a:rPr lang="en-US"/>
              <a:t>@SIH Idea submission- Template</a:t>
            </a:r>
          </a:p>
        </p:txBody>
      </p:sp>
      <p:sp>
        <p:nvSpPr>
          <p:cNvPr id="7" name="Slide Number Placeholder 6"/>
          <p:cNvSpPr>
            <a:spLocks noGrp="1"/>
          </p:cNvSpPr>
          <p:nvPr>
            <p:ph type="sldNum" sz="quarter" idx="12"/>
          </p:nvPr>
        </p:nvSpPr>
        <p:spPr/>
        <p:txBody>
          <a:bodyPr/>
          <a:lstStyle/>
          <a:p>
            <a:fld id="{E1FC16D9-1635-4844-816A-0A8A2160FADA}" type="slidenum">
              <a:rPr lang="en-US" smtClean="0"/>
              <a:pPr/>
              <a:t>‹#›</a:t>
            </a:fld>
            <a:endParaRPr lang="en-US"/>
          </a:p>
        </p:txBody>
      </p:sp>
    </p:spTree>
    <p:extLst>
      <p:ext uri="{BB962C8B-B14F-4D97-AF65-F5344CB8AC3E}">
        <p14:creationId xmlns:p14="http://schemas.microsoft.com/office/powerpoint/2010/main" val="71865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EAC6F8-5103-4FC0-A69E-5C6AE6469DA8}" type="datetime1">
              <a:rPr lang="en-US" smtClean="0"/>
              <a:t>10/19/2024</a:t>
            </a:fld>
            <a:endParaRPr lang="en-US"/>
          </a:p>
        </p:txBody>
      </p:sp>
      <p:sp>
        <p:nvSpPr>
          <p:cNvPr id="8" name="Footer Placeholder 7"/>
          <p:cNvSpPr>
            <a:spLocks noGrp="1"/>
          </p:cNvSpPr>
          <p:nvPr>
            <p:ph type="ftr" sz="quarter" idx="11"/>
          </p:nvPr>
        </p:nvSpPr>
        <p:spPr/>
        <p:txBody>
          <a:bodyPr/>
          <a:lstStyle/>
          <a:p>
            <a:pPr>
              <a:defRPr/>
            </a:pPr>
            <a:r>
              <a:rPr lang="en-US"/>
              <a:t>@SIH Idea submission- Template</a:t>
            </a:r>
          </a:p>
        </p:txBody>
      </p:sp>
      <p:sp>
        <p:nvSpPr>
          <p:cNvPr id="9" name="Slide Number Placeholder 8"/>
          <p:cNvSpPr>
            <a:spLocks noGrp="1"/>
          </p:cNvSpPr>
          <p:nvPr>
            <p:ph type="sldNum" sz="quarter" idx="12"/>
          </p:nvPr>
        </p:nvSpPr>
        <p:spPr/>
        <p:txBody>
          <a:bodyPr/>
          <a:lstStyle/>
          <a:p>
            <a:fld id="{71C4100A-98DE-4944-910A-A93F5CA9F724}" type="slidenum">
              <a:rPr lang="en-US" smtClean="0"/>
              <a:pPr/>
              <a:t>‹#›</a:t>
            </a:fld>
            <a:endParaRPr lang="en-US"/>
          </a:p>
        </p:txBody>
      </p:sp>
    </p:spTree>
    <p:extLst>
      <p:ext uri="{BB962C8B-B14F-4D97-AF65-F5344CB8AC3E}">
        <p14:creationId xmlns:p14="http://schemas.microsoft.com/office/powerpoint/2010/main" val="1466377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0C6921-0627-4C8F-83D5-0CF936D2FFDD}" type="datetime1">
              <a:rPr lang="en-US" smtClean="0"/>
              <a:t>10/19/2024</a:t>
            </a:fld>
            <a:endParaRPr lang="en-US"/>
          </a:p>
        </p:txBody>
      </p:sp>
      <p:sp>
        <p:nvSpPr>
          <p:cNvPr id="4" name="Footer Placeholder 3"/>
          <p:cNvSpPr>
            <a:spLocks noGrp="1"/>
          </p:cNvSpPr>
          <p:nvPr>
            <p:ph type="ftr" sz="quarter" idx="11"/>
          </p:nvPr>
        </p:nvSpPr>
        <p:spPr/>
        <p:txBody>
          <a:bodyPr/>
          <a:lstStyle/>
          <a:p>
            <a:pPr>
              <a:defRPr/>
            </a:pPr>
            <a:r>
              <a:rPr lang="en-US"/>
              <a:t>@SIH Idea submission- Template</a:t>
            </a:r>
          </a:p>
        </p:txBody>
      </p:sp>
      <p:sp>
        <p:nvSpPr>
          <p:cNvPr id="5" name="Slide Number Placeholder 4"/>
          <p:cNvSpPr>
            <a:spLocks noGrp="1"/>
          </p:cNvSpPr>
          <p:nvPr>
            <p:ph type="sldNum" sz="quarter" idx="12"/>
          </p:nvPr>
        </p:nvSpPr>
        <p:spPr/>
        <p:txBody>
          <a:bodyPr/>
          <a:lstStyle/>
          <a:p>
            <a:fld id="{6A63342B-5A73-45DC-864D-086DE78037EF}" type="slidenum">
              <a:rPr lang="en-US" smtClean="0"/>
              <a:pPr/>
              <a:t>‹#›</a:t>
            </a:fld>
            <a:endParaRPr lang="en-US"/>
          </a:p>
        </p:txBody>
      </p:sp>
    </p:spTree>
    <p:extLst>
      <p:ext uri="{BB962C8B-B14F-4D97-AF65-F5344CB8AC3E}">
        <p14:creationId xmlns:p14="http://schemas.microsoft.com/office/powerpoint/2010/main" val="436147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08AD7-8103-40F8-983C-E2BA6BB9CBE0}" type="datetime1">
              <a:rPr lang="en-US" smtClean="0"/>
              <a:t>10/19/2024</a:t>
            </a:fld>
            <a:endParaRPr lang="en-US"/>
          </a:p>
        </p:txBody>
      </p:sp>
      <p:sp>
        <p:nvSpPr>
          <p:cNvPr id="3" name="Footer Placeholder 2"/>
          <p:cNvSpPr>
            <a:spLocks noGrp="1"/>
          </p:cNvSpPr>
          <p:nvPr>
            <p:ph type="ftr" sz="quarter" idx="11"/>
          </p:nvPr>
        </p:nvSpPr>
        <p:spPr/>
        <p:txBody>
          <a:bodyPr/>
          <a:lstStyle/>
          <a:p>
            <a:pPr>
              <a:defRPr/>
            </a:pPr>
            <a:r>
              <a:rPr lang="en-US"/>
              <a:t>@SIH Idea submission- Template</a:t>
            </a:r>
          </a:p>
        </p:txBody>
      </p:sp>
      <p:sp>
        <p:nvSpPr>
          <p:cNvPr id="4" name="Slide Number Placeholder 3"/>
          <p:cNvSpPr>
            <a:spLocks noGrp="1"/>
          </p:cNvSpPr>
          <p:nvPr>
            <p:ph type="sldNum" sz="quarter" idx="12"/>
          </p:nvPr>
        </p:nvSpPr>
        <p:spPr/>
        <p:txBody>
          <a:bodyPr/>
          <a:lstStyle/>
          <a:p>
            <a:fld id="{B635AFB3-1ACD-44AC-8702-86B1729DF035}" type="slidenum">
              <a:rPr lang="en-US" smtClean="0"/>
              <a:pPr/>
              <a:t>‹#›</a:t>
            </a:fld>
            <a:endParaRPr lang="en-US"/>
          </a:p>
        </p:txBody>
      </p:sp>
    </p:spTree>
    <p:extLst>
      <p:ext uri="{BB962C8B-B14F-4D97-AF65-F5344CB8AC3E}">
        <p14:creationId xmlns:p14="http://schemas.microsoft.com/office/powerpoint/2010/main" val="4283259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8C06B4-9380-4A4D-AF49-A3596E17DAF5}" type="datetime1">
              <a:rPr lang="en-US" smtClean="0"/>
              <a:t>10/19/2024</a:t>
            </a:fld>
            <a:endParaRPr lang="en-US"/>
          </a:p>
        </p:txBody>
      </p:sp>
      <p:sp>
        <p:nvSpPr>
          <p:cNvPr id="6" name="Footer Placeholder 5"/>
          <p:cNvSpPr>
            <a:spLocks noGrp="1"/>
          </p:cNvSpPr>
          <p:nvPr>
            <p:ph type="ftr" sz="quarter" idx="11"/>
          </p:nvPr>
        </p:nvSpPr>
        <p:spPr/>
        <p:txBody>
          <a:bodyPr/>
          <a:lstStyle/>
          <a:p>
            <a:pPr>
              <a:defRPr/>
            </a:pPr>
            <a:r>
              <a:rPr lang="en-US"/>
              <a:t>@SIH Idea submission- Template</a:t>
            </a:r>
          </a:p>
        </p:txBody>
      </p:sp>
      <p:sp>
        <p:nvSpPr>
          <p:cNvPr id="7" name="Slide Number Placeholder 6"/>
          <p:cNvSpPr>
            <a:spLocks noGrp="1"/>
          </p:cNvSpPr>
          <p:nvPr>
            <p:ph type="sldNum" sz="quarter" idx="12"/>
          </p:nvPr>
        </p:nvSpPr>
        <p:spPr/>
        <p:txBody>
          <a:bodyPr/>
          <a:lstStyle/>
          <a:p>
            <a:fld id="{05CF15F3-5E77-4C57-9E21-50D6D1D6C022}" type="slidenum">
              <a:rPr lang="en-US" smtClean="0"/>
              <a:pPr/>
              <a:t>‹#›</a:t>
            </a:fld>
            <a:endParaRPr lang="en-US"/>
          </a:p>
        </p:txBody>
      </p:sp>
    </p:spTree>
    <p:extLst>
      <p:ext uri="{BB962C8B-B14F-4D97-AF65-F5344CB8AC3E}">
        <p14:creationId xmlns:p14="http://schemas.microsoft.com/office/powerpoint/2010/main" val="466066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7FDEF1-C582-4E22-9E77-D68326471F28}" type="datetime1">
              <a:rPr lang="en-US" smtClean="0"/>
              <a:t>10/19/2024</a:t>
            </a:fld>
            <a:endParaRPr lang="en-US"/>
          </a:p>
        </p:txBody>
      </p:sp>
      <p:sp>
        <p:nvSpPr>
          <p:cNvPr id="6" name="Footer Placeholder 5"/>
          <p:cNvSpPr>
            <a:spLocks noGrp="1"/>
          </p:cNvSpPr>
          <p:nvPr>
            <p:ph type="ftr" sz="quarter" idx="11"/>
          </p:nvPr>
        </p:nvSpPr>
        <p:spPr/>
        <p:txBody>
          <a:bodyPr/>
          <a:lstStyle/>
          <a:p>
            <a:pPr>
              <a:defRPr/>
            </a:pPr>
            <a:r>
              <a:rPr lang="en-US"/>
              <a:t>@SIH Idea submission- Template</a:t>
            </a:r>
          </a:p>
        </p:txBody>
      </p:sp>
      <p:sp>
        <p:nvSpPr>
          <p:cNvPr id="7" name="Slide Number Placeholder 6"/>
          <p:cNvSpPr>
            <a:spLocks noGrp="1"/>
          </p:cNvSpPr>
          <p:nvPr>
            <p:ph type="sldNum" sz="quarter" idx="12"/>
          </p:nvPr>
        </p:nvSpPr>
        <p:spPr/>
        <p:txBody>
          <a:bodyPr/>
          <a:lstStyle/>
          <a:p>
            <a:fld id="{1242169A-B3C7-4FB6-967F-AF95F4EB3315}" type="slidenum">
              <a:rPr lang="en-US" smtClean="0"/>
              <a:pPr/>
              <a:t>‹#›</a:t>
            </a:fld>
            <a:endParaRPr lang="en-US"/>
          </a:p>
        </p:txBody>
      </p:sp>
    </p:spTree>
    <p:extLst>
      <p:ext uri="{BB962C8B-B14F-4D97-AF65-F5344CB8AC3E}">
        <p14:creationId xmlns:p14="http://schemas.microsoft.com/office/powerpoint/2010/main" val="2346401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0A9602-A9A9-453F-AEF1-37B5837E02CD}" type="datetime1">
              <a:rPr lang="en-US" smtClean="0"/>
              <a:t>10/19/2024</a:t>
            </a:fld>
            <a:endParaRPr lang="en-US"/>
          </a:p>
        </p:txBody>
      </p:sp>
      <p:sp>
        <p:nvSpPr>
          <p:cNvPr id="6" name="Footer Placeholder 5"/>
          <p:cNvSpPr>
            <a:spLocks noGrp="1"/>
          </p:cNvSpPr>
          <p:nvPr>
            <p:ph type="ftr" sz="quarter" idx="11"/>
          </p:nvPr>
        </p:nvSpPr>
        <p:spPr/>
        <p:txBody>
          <a:bodyPr/>
          <a:lstStyle/>
          <a:p>
            <a:pPr>
              <a:defRPr/>
            </a:pPr>
            <a:r>
              <a:rPr lang="en-US"/>
              <a:t>@SIH Idea submission- Template</a:t>
            </a:r>
          </a:p>
        </p:txBody>
      </p:sp>
      <p:sp>
        <p:nvSpPr>
          <p:cNvPr id="7" name="Slide Number Placeholder 6"/>
          <p:cNvSpPr>
            <a:spLocks noGrp="1"/>
          </p:cNvSpPr>
          <p:nvPr>
            <p:ph type="sldNum" sz="quarter" idx="12"/>
          </p:nvPr>
        </p:nvSpPr>
        <p:spPr/>
        <p:txBody>
          <a:bodyPr/>
          <a:lstStyle/>
          <a:p>
            <a:fld id="{1411BA53-830D-4830-BB65-E58DBE17D0B7}" type="slidenum">
              <a:rPr lang="en-US" smtClean="0"/>
              <a:pPr/>
              <a:t>‹#›</a:t>
            </a:fld>
            <a:endParaRPr lang="en-US"/>
          </a:p>
        </p:txBody>
      </p:sp>
    </p:spTree>
    <p:extLst>
      <p:ext uri="{BB962C8B-B14F-4D97-AF65-F5344CB8AC3E}">
        <p14:creationId xmlns:p14="http://schemas.microsoft.com/office/powerpoint/2010/main" val="1342315213"/>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9602-A9A9-453F-AEF1-37B5837E02CD}"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1411BA53-830D-4830-BB65-E58DBE17D0B7}" type="slidenum">
              <a:rPr lang="en-US" smtClean="0"/>
              <a:pPr/>
              <a:t>‹#›</a:t>
            </a:fld>
            <a:endParaRPr lang="en-US"/>
          </a:p>
        </p:txBody>
      </p:sp>
    </p:spTree>
    <p:extLst>
      <p:ext uri="{BB962C8B-B14F-4D97-AF65-F5344CB8AC3E}">
        <p14:creationId xmlns:p14="http://schemas.microsoft.com/office/powerpoint/2010/main" val="3935539593"/>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9602-A9A9-453F-AEF1-37B5837E02CD}"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1411BA53-830D-4830-BB65-E58DBE17D0B7}" type="slidenum">
              <a:rPr lang="en-US" smtClean="0"/>
              <a:pPr/>
              <a:t>‹#›</a:t>
            </a:fld>
            <a:endParaRPr lang="en-US"/>
          </a:p>
        </p:txBody>
      </p:sp>
    </p:spTree>
    <p:extLst>
      <p:ext uri="{BB962C8B-B14F-4D97-AF65-F5344CB8AC3E}">
        <p14:creationId xmlns:p14="http://schemas.microsoft.com/office/powerpoint/2010/main" val="2455861641"/>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9602-A9A9-453F-AEF1-37B5837E02CD}"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1411BA53-830D-4830-BB65-E58DBE17D0B7}" type="slidenum">
              <a:rPr lang="en-US" smtClean="0"/>
              <a:pPr/>
              <a:t>‹#›</a:t>
            </a:fld>
            <a:endParaRPr lang="en-US"/>
          </a:p>
        </p:txBody>
      </p:sp>
    </p:spTree>
    <p:extLst>
      <p:ext uri="{BB962C8B-B14F-4D97-AF65-F5344CB8AC3E}">
        <p14:creationId xmlns:p14="http://schemas.microsoft.com/office/powerpoint/2010/main" val="2714856668"/>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9602-A9A9-453F-AEF1-37B5837E02CD}"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1411BA53-830D-4830-BB65-E58DBE17D0B7}" type="slidenum">
              <a:rPr lang="en-US" smtClean="0"/>
              <a:pPr/>
              <a:t>‹#›</a:t>
            </a:fld>
            <a:endParaRPr lang="en-US"/>
          </a:p>
        </p:txBody>
      </p:sp>
    </p:spTree>
    <p:extLst>
      <p:ext uri="{BB962C8B-B14F-4D97-AF65-F5344CB8AC3E}">
        <p14:creationId xmlns:p14="http://schemas.microsoft.com/office/powerpoint/2010/main" val="3937685732"/>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9602-A9A9-453F-AEF1-37B5837E02CD}"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1411BA53-830D-4830-BB65-E58DBE17D0B7}" type="slidenum">
              <a:rPr lang="en-US" smtClean="0"/>
              <a:pPr/>
              <a:t>‹#›</a:t>
            </a:fld>
            <a:endParaRPr lang="en-US"/>
          </a:p>
        </p:txBody>
      </p:sp>
    </p:spTree>
    <p:extLst>
      <p:ext uri="{BB962C8B-B14F-4D97-AF65-F5344CB8AC3E}">
        <p14:creationId xmlns:p14="http://schemas.microsoft.com/office/powerpoint/2010/main" val="3731673291"/>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3C3A68-6922-42D3-8905-ECC2D82A3469}"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94FDD027-5576-4F27-AAB6-1D994836EE78}" type="slidenum">
              <a:rPr lang="en-US" smtClean="0"/>
              <a:pPr/>
              <a:t>‹#›</a:t>
            </a:fld>
            <a:endParaRPr lang="en-US"/>
          </a:p>
        </p:txBody>
      </p:sp>
    </p:spTree>
    <p:extLst>
      <p:ext uri="{BB962C8B-B14F-4D97-AF65-F5344CB8AC3E}">
        <p14:creationId xmlns:p14="http://schemas.microsoft.com/office/powerpoint/2010/main" val="27634246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69E9F4-7604-4950-A8B2-8ACDEDB1506E}" type="datetime1">
              <a:rPr lang="en-US" smtClean="0"/>
              <a:t>10/19/2024</a:t>
            </a:fld>
            <a:endParaRPr lang="en-US"/>
          </a:p>
        </p:txBody>
      </p:sp>
      <p:sp>
        <p:nvSpPr>
          <p:cNvPr id="5" name="Footer Placeholder 4"/>
          <p:cNvSpPr>
            <a:spLocks noGrp="1"/>
          </p:cNvSpPr>
          <p:nvPr>
            <p:ph type="ftr" sz="quarter" idx="11"/>
          </p:nvPr>
        </p:nvSpPr>
        <p:spPr/>
        <p:txBody>
          <a:bodyPr/>
          <a:lstStyle/>
          <a:p>
            <a:pPr>
              <a:defRPr/>
            </a:pPr>
            <a:r>
              <a:rPr lang="en-US"/>
              <a:t>@SIH Idea submission- Template</a:t>
            </a:r>
          </a:p>
        </p:txBody>
      </p:sp>
      <p:sp>
        <p:nvSpPr>
          <p:cNvPr id="6" name="Slide Number Placeholder 5"/>
          <p:cNvSpPr>
            <a:spLocks noGrp="1"/>
          </p:cNvSpPr>
          <p:nvPr>
            <p:ph type="sldNum" sz="quarter" idx="12"/>
          </p:nvPr>
        </p:nvSpPr>
        <p:spPr/>
        <p:txBody>
          <a:bodyPr/>
          <a:lstStyle/>
          <a:p>
            <a:fld id="{2957CE61-8714-431B-A40A-01B1C5541AB7}" type="slidenum">
              <a:rPr lang="en-US" smtClean="0"/>
              <a:pPr/>
              <a:t>‹#›</a:t>
            </a:fld>
            <a:endParaRPr lang="en-US"/>
          </a:p>
        </p:txBody>
      </p:sp>
    </p:spTree>
    <p:extLst>
      <p:ext uri="{BB962C8B-B14F-4D97-AF65-F5344CB8AC3E}">
        <p14:creationId xmlns:p14="http://schemas.microsoft.com/office/powerpoint/2010/main" val="3922039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10/19/2024</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fontAlgn="base" hangingPunct="1">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eaLnBrk="1" fontAlgn="base" hangingPunct="1">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1" fontAlgn="base" hangingPunct="1">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1" fontAlgn="base" hangingPunct="1">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0A9602-A9A9-453F-AEF1-37B5837E02CD}" type="datetime1">
              <a:rPr lang="en-US" smtClean="0"/>
              <a:t>10/19/2024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r>
              <a:rPr lang="en-US"/>
              <a:t>@SIH Idea submission- Template</a:t>
            </a: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411BA53-830D-4830-BB65-E58DBE17D0B7}" type="slidenum">
              <a:rPr lang="en-US" smtClean="0"/>
              <a:pPr/>
              <a:t>‹#›</a:t>
            </a:fld>
            <a:endParaRPr lang="en-US"/>
          </a:p>
        </p:txBody>
      </p:sp>
    </p:spTree>
    <p:extLst>
      <p:ext uri="{BB962C8B-B14F-4D97-AF65-F5344CB8AC3E}">
        <p14:creationId xmlns:p14="http://schemas.microsoft.com/office/powerpoint/2010/main" val="21500119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youtu.be/JNJ41hFCE5Q"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www.themarketreports.com/report/global-smart-campus-solution-market-research-repor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reports.valuates.com/market-reports/QYRE-Auto-28V8085/global-smart-camp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5">
            <a:extLst>
              <a:ext uri="{FF2B5EF4-FFF2-40B4-BE49-F238E27FC236}">
                <a16:creationId xmlns:a16="http://schemas.microsoft.com/office/drawing/2014/main" id="{45251D76-860D-0D2C-6F83-BDB9FA67CFD2}"/>
              </a:ext>
            </a:extLst>
          </p:cNvPr>
          <p:cNvSpPr>
            <a:spLocks noGrp="1"/>
          </p:cNvSpPr>
          <p:nvPr>
            <p:ph type="ctrTitle"/>
          </p:nvPr>
        </p:nvSpPr>
        <p:spPr>
          <a:xfrm>
            <a:off x="2928401" y="1380068"/>
            <a:ext cx="8574622" cy="2616199"/>
          </a:xfrm>
        </p:spPr>
        <p:txBody>
          <a:bodyPr>
            <a:normAutofit/>
          </a:bodyPr>
          <a:lstStyle/>
          <a:p>
            <a:r>
              <a:rPr lang="en-US" sz="7200" b="1" dirty="0">
                <a:latin typeface="Arial" panose="020B0604020202020204" pitchFamily="34" charset="0"/>
                <a:ea typeface="ＭＳ Ｐゴシック"/>
                <a:cs typeface="Arial" panose="020B0604020202020204" pitchFamily="34" charset="0"/>
              </a:rPr>
              <a:t>SARVALINK</a:t>
            </a:r>
            <a:endParaRPr lang="en-IN" sz="7200" dirty="0"/>
          </a:p>
        </p:txBody>
      </p:sp>
      <p:sp>
        <p:nvSpPr>
          <p:cNvPr id="18" name="Subtitle 6">
            <a:extLst>
              <a:ext uri="{FF2B5EF4-FFF2-40B4-BE49-F238E27FC236}">
                <a16:creationId xmlns:a16="http://schemas.microsoft.com/office/drawing/2014/main" id="{998E4FFC-54E8-8AD6-C30A-0186C2DF3A32}"/>
              </a:ext>
            </a:extLst>
          </p:cNvPr>
          <p:cNvSpPr>
            <a:spLocks noGrp="1"/>
          </p:cNvSpPr>
          <p:nvPr>
            <p:ph type="subTitle" idx="1"/>
          </p:nvPr>
        </p:nvSpPr>
        <p:spPr>
          <a:xfrm>
            <a:off x="4515377" y="3996267"/>
            <a:ext cx="6987645" cy="1388534"/>
          </a:xfrm>
        </p:spPr>
        <p:txBody>
          <a:bodyPr/>
          <a:lstStyle/>
          <a:p>
            <a:r>
              <a:rPr lang="en-US" dirty="0">
                <a:solidFill>
                  <a:schemeClr val="tx1"/>
                </a:solidFill>
              </a:rPr>
              <a:t>Unified Dashboard, Smart Device: Streamlining Campus Management with Secure, Cost-Effective Solutions</a:t>
            </a:r>
            <a:endParaRPr lang="en-IN"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A8E84E4-6BA1-4532-7483-7EAF673AAF2D}"/>
              </a:ext>
            </a:extLst>
          </p:cNvPr>
          <p:cNvPicPr>
            <a:picLocks noChangeAspect="1"/>
          </p:cNvPicPr>
          <p:nvPr/>
        </p:nvPicPr>
        <p:blipFill>
          <a:blip r:embed="rId3"/>
          <a:stretch>
            <a:fillRect/>
          </a:stretch>
        </p:blipFill>
        <p:spPr>
          <a:xfrm>
            <a:off x="584901" y="-352930"/>
            <a:ext cx="4056148" cy="7210930"/>
          </a:xfrm>
          <a:prstGeom prst="rect">
            <a:avLst/>
          </a:prstGeom>
        </p:spPr>
      </p:pic>
      <p:sp>
        <p:nvSpPr>
          <p:cNvPr id="15361" name="Title 1"/>
          <p:cNvSpPr>
            <a:spLocks noGrp="1"/>
          </p:cNvSpPr>
          <p:nvPr>
            <p:ph type="title"/>
          </p:nvPr>
        </p:nvSpPr>
        <p:spPr>
          <a:xfrm>
            <a:off x="324765" y="24209"/>
            <a:ext cx="10972800" cy="1143000"/>
          </a:xfrm>
        </p:spPr>
        <p:txBody>
          <a:bodyPr/>
          <a:lstStyle/>
          <a:p>
            <a:pPr eaLnBrk="1" hangingPunct="1"/>
            <a:r>
              <a:rPr lang="en-US" sz="3600" b="1" dirty="0">
                <a:latin typeface="+mj-lt"/>
                <a:ea typeface="ＭＳ Ｐゴシック"/>
                <a:cs typeface="Arial" panose="020B0604020202020204" pitchFamily="34" charset="0"/>
              </a:rPr>
              <a:t>SARVALINK</a:t>
            </a:r>
            <a:endParaRPr lang="en-US" sz="3600" b="1" dirty="0">
              <a:latin typeface="+mj-lt"/>
              <a:ea typeface="ＭＳ Ｐゴシック" pitchFamily="1" charset="-128"/>
              <a:cs typeface="Arial" panose="020B0604020202020204" pitchFamily="34" charset="0"/>
            </a:endParaRPr>
          </a:p>
        </p:txBody>
      </p:sp>
      <p:sp>
        <p:nvSpPr>
          <p:cNvPr id="15362" name="TextBox 8"/>
          <p:cNvSpPr txBox="1">
            <a:spLocks noChangeArrowheads="1"/>
          </p:cNvSpPr>
          <p:nvPr/>
        </p:nvSpPr>
        <p:spPr bwMode="auto">
          <a:xfrm>
            <a:off x="4901184" y="1120676"/>
            <a:ext cx="7227425" cy="4370427"/>
          </a:xfrm>
          <a:prstGeom prst="rect">
            <a:avLst/>
          </a:prstGeom>
          <a:noFill/>
          <a:ln w="9525">
            <a:noFill/>
            <a:miter lim="800000"/>
            <a:headEnd/>
            <a:tailEnd/>
          </a:ln>
        </p:spPr>
        <p:txBody>
          <a:bodyPr wrap="square" lIns="91440" tIns="45720" rIns="91440" bIns="45720" anchor="t">
            <a:spAutoFit/>
          </a:bodyPr>
          <a:lstStyle/>
          <a:p>
            <a:r>
              <a:rPr lang="en-US" b="1" dirty="0">
                <a:solidFill>
                  <a:schemeClr val="tx2"/>
                </a:solidFill>
                <a:latin typeface="+mj-lt"/>
                <a:ea typeface="Calibri"/>
                <a:cs typeface="Arial" panose="020B0604020202020204" pitchFamily="34" charset="0"/>
              </a:rPr>
              <a:t>Problem Statement:</a:t>
            </a:r>
          </a:p>
          <a:p>
            <a:r>
              <a:rPr lang="en-US" sz="1600" dirty="0">
                <a:latin typeface="+mj-lt"/>
                <a:cs typeface="Arial" panose="020B0604020202020204" pitchFamily="34" charset="0"/>
              </a:rPr>
              <a:t>Educational institutions struggle with inefficient manual systems for attendance, data access, and secure authentication. The lack of a unified platform integrating Aadhar and ABC complicates identity verification and academic record management.</a:t>
            </a:r>
            <a:br>
              <a:rPr lang="en-US" sz="1600" dirty="0">
                <a:latin typeface="+mj-lt"/>
                <a:cs typeface="Arial" panose="020B0604020202020204" pitchFamily="34" charset="0"/>
              </a:rPr>
            </a:br>
            <a:r>
              <a:rPr lang="en-US" b="1" dirty="0">
                <a:solidFill>
                  <a:schemeClr val="tx2"/>
                </a:solidFill>
                <a:latin typeface="+mj-lt"/>
                <a:cs typeface="Arial" panose="020B0604020202020204" pitchFamily="34" charset="0"/>
              </a:rPr>
              <a:t>Proposed Solution:</a:t>
            </a:r>
            <a:br>
              <a:rPr lang="en-US" sz="1600" dirty="0">
                <a:latin typeface="+mj-lt"/>
                <a:cs typeface="Arial" panose="020B0604020202020204" pitchFamily="34" charset="0"/>
              </a:rPr>
            </a:br>
            <a:r>
              <a:rPr lang="en-US" sz="1600" dirty="0">
                <a:latin typeface="+mj-lt"/>
                <a:cs typeface="Arial" panose="020B0604020202020204" pitchFamily="34" charset="0"/>
              </a:rPr>
              <a:t>A unified college management system integrating QR code scanning, biometric face recognition, Aadhar, and the Academic Bank of Credits (ABC). With dual authentication, it automates attendance, manages departments, and enhances security and efficiency in academic institutions.</a:t>
            </a:r>
          </a:p>
          <a:p>
            <a:r>
              <a:rPr lang="en-US" b="1" dirty="0">
                <a:solidFill>
                  <a:schemeClr val="tx2"/>
                </a:solidFill>
                <a:latin typeface="+mj-lt"/>
                <a:ea typeface="Calibri"/>
                <a:cs typeface="Arial" panose="020B0604020202020204" pitchFamily="34" charset="0"/>
              </a:rPr>
              <a:t>How It Addresses The Problem:</a:t>
            </a:r>
          </a:p>
          <a:p>
            <a:pPr marL="285750" indent="-285750">
              <a:buFont typeface="Arial" panose="020B0604020202020204" pitchFamily="34" charset="0"/>
              <a:buChar char="•"/>
            </a:pPr>
            <a:r>
              <a:rPr lang="en-US" sz="1600" dirty="0">
                <a:latin typeface="+mj-lt"/>
                <a:ea typeface="Calibri"/>
                <a:cs typeface="Arial" panose="020B0604020202020204" pitchFamily="34" charset="0"/>
              </a:rPr>
              <a:t>Streamlines department workflows (library, accounts, exams, hostel) with real-time data syncing.</a:t>
            </a:r>
          </a:p>
          <a:p>
            <a:pPr marL="285750" indent="-285750">
              <a:buFont typeface="Arial" panose="020B0604020202020204" pitchFamily="34" charset="0"/>
              <a:buChar char="•"/>
            </a:pPr>
            <a:r>
              <a:rPr lang="en-US" sz="1600" dirty="0">
                <a:latin typeface="+mj-lt"/>
                <a:ea typeface="Calibri"/>
                <a:cs typeface="Arial" panose="020B0604020202020204" pitchFamily="34" charset="0"/>
              </a:rPr>
              <a:t>Enhances security via dual authentication using Aadhar and biometric verification.</a:t>
            </a:r>
          </a:p>
          <a:p>
            <a:pPr marL="285750" indent="-285750">
              <a:buFont typeface="Arial" panose="020B0604020202020204" pitchFamily="34" charset="0"/>
              <a:buChar char="•"/>
            </a:pPr>
            <a:r>
              <a:rPr lang="en-US" sz="1600" dirty="0">
                <a:latin typeface="+mj-lt"/>
                <a:ea typeface="Calibri"/>
                <a:cs typeface="Arial" panose="020B0604020202020204" pitchFamily="34" charset="0"/>
              </a:rPr>
              <a:t>Integrates ABC for seamless academic credit management.</a:t>
            </a:r>
          </a:p>
          <a:p>
            <a:pPr marL="285750" indent="-285750">
              <a:buFont typeface="Arial" panose="020B0604020202020204" pitchFamily="34" charset="0"/>
              <a:buChar char="•"/>
            </a:pPr>
            <a:r>
              <a:rPr lang="en-US" sz="1600" dirty="0">
                <a:latin typeface="+mj-lt"/>
                <a:ea typeface="Calibri"/>
                <a:cs typeface="Arial" panose="020B0604020202020204" pitchFamily="34" charset="0"/>
              </a:rPr>
              <a:t>Reduces fraud in identity verification during exams.</a:t>
            </a:r>
          </a:p>
          <a:p>
            <a:pPr marL="285750" indent="-285750">
              <a:buFont typeface="Arial" panose="020B0604020202020204" pitchFamily="34" charset="0"/>
              <a:buChar char="•"/>
            </a:pPr>
            <a:r>
              <a:rPr lang="en-US" sz="1600" dirty="0">
                <a:latin typeface="+mj-lt"/>
                <a:ea typeface="Calibri"/>
                <a:cs typeface="Arial" panose="020B0604020202020204" pitchFamily="34" charset="0"/>
              </a:rPr>
              <a:t>Automates attendance tracking through QR scanning and face recognition, eliminating manual errors.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latin typeface="+mj-lt"/>
                <a:cs typeface="Arial" panose="020B0604020202020204" pitchFamily="34" charset="0"/>
              </a:rPr>
              <a:pPr/>
              <a:t>2</a:t>
            </a:fld>
            <a:endParaRPr lang="en-US" b="1">
              <a:solidFill>
                <a:schemeClr val="bg1"/>
              </a:solidFill>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latin typeface="+mj-lt"/>
                <a:cs typeface="Arial" panose="020B0604020202020204" pitchFamily="34" charset="0"/>
              </a:rPr>
              <a:t>@SIH Idea submission- Template</a:t>
            </a:r>
          </a:p>
        </p:txBody>
      </p:sp>
      <p:sp>
        <p:nvSpPr>
          <p:cNvPr id="4" name="TextBox 3">
            <a:extLst>
              <a:ext uri="{FF2B5EF4-FFF2-40B4-BE49-F238E27FC236}">
                <a16:creationId xmlns:a16="http://schemas.microsoft.com/office/drawing/2014/main" id="{B76D36FB-90FE-9A56-9470-568C61155089}"/>
              </a:ext>
            </a:extLst>
          </p:cNvPr>
          <p:cNvSpPr txBox="1"/>
          <p:nvPr/>
        </p:nvSpPr>
        <p:spPr>
          <a:xfrm>
            <a:off x="4901184" y="5907024"/>
            <a:ext cx="6327648" cy="369332"/>
          </a:xfrm>
          <a:prstGeom prst="rect">
            <a:avLst/>
          </a:prstGeom>
          <a:noFill/>
        </p:spPr>
        <p:txBody>
          <a:bodyPr wrap="square" rtlCol="0">
            <a:spAutoFit/>
          </a:bodyPr>
          <a:lstStyle/>
          <a:p>
            <a:r>
              <a:rPr lang="en-US" b="1" dirty="0">
                <a:solidFill>
                  <a:srgbClr val="FF0000"/>
                </a:solidFill>
                <a:latin typeface="+mj-lt"/>
                <a:cs typeface="Arial" panose="020B0604020202020204" pitchFamily="34" charset="0"/>
              </a:rPr>
              <a:t>For </a:t>
            </a:r>
            <a:r>
              <a:rPr lang="en-US" b="1" dirty="0" err="1">
                <a:solidFill>
                  <a:srgbClr val="FF0000"/>
                </a:solidFill>
                <a:latin typeface="+mj-lt"/>
                <a:cs typeface="Arial" panose="020B0604020202020204" pitchFamily="34" charset="0"/>
              </a:rPr>
              <a:t>Referance</a:t>
            </a:r>
            <a:r>
              <a:rPr lang="en-US" b="1" dirty="0">
                <a:solidFill>
                  <a:srgbClr val="FF0000"/>
                </a:solidFill>
                <a:latin typeface="+mj-lt"/>
                <a:cs typeface="Arial" panose="020B0604020202020204" pitchFamily="34" charset="0"/>
              </a:rPr>
              <a:t> Watch this: </a:t>
            </a:r>
            <a:r>
              <a:rPr lang="en-US" b="1" dirty="0">
                <a:solidFill>
                  <a:srgbClr val="FF0000"/>
                </a:solidFill>
                <a:latin typeface="+mj-lt"/>
                <a:cs typeface="Arial" panose="020B0604020202020204" pitchFamily="34" charset="0"/>
                <a:hlinkClick r:id="rId4"/>
              </a:rPr>
              <a:t>https://youtu.be/JNJ41hFCE5Q</a:t>
            </a:r>
            <a:r>
              <a:rPr lang="en-US" b="1" i="1" dirty="0">
                <a:solidFill>
                  <a:srgbClr val="FF0000"/>
                </a:solidFill>
                <a:latin typeface="+mj-lt"/>
                <a:cs typeface="Arial" panose="020B0604020202020204" pitchFamily="34" charset="0"/>
                <a:hlinkClick r:id="rId4"/>
              </a:rPr>
              <a:t> </a:t>
            </a:r>
            <a:endParaRPr lang="en-IN" b="1" i="1" dirty="0">
              <a:solidFill>
                <a:srgbClr val="FF0000"/>
              </a:solidFill>
              <a:latin typeface="+mj-lt"/>
              <a:cs typeface="Arial" panose="020B0604020202020204" pitchFamily="34" charset="0"/>
            </a:endParaRPr>
          </a:p>
        </p:txBody>
      </p:sp>
      <p:pic>
        <p:nvPicPr>
          <p:cNvPr id="8" name="Google Shape;93;p2">
            <a:extLst>
              <a:ext uri="{FF2B5EF4-FFF2-40B4-BE49-F238E27FC236}">
                <a16:creationId xmlns:a16="http://schemas.microsoft.com/office/drawing/2014/main" id="{55EB6928-4F51-3FCD-2490-F9260484EC56}"/>
              </a:ext>
            </a:extLst>
          </p:cNvPr>
          <p:cNvPicPr preferRelativeResize="0"/>
          <p:nvPr/>
        </p:nvPicPr>
        <p:blipFill rotWithShape="1">
          <a:blip r:embed="rId5">
            <a:alphaModFix/>
          </a:blip>
          <a:srcRect/>
          <a:stretch/>
        </p:blipFill>
        <p:spPr>
          <a:xfrm>
            <a:off x="11089453" y="0"/>
            <a:ext cx="1102547" cy="563929"/>
          </a:xfrm>
          <a:prstGeom prst="rect">
            <a:avLst/>
          </a:prstGeom>
          <a:noFill/>
          <a:ln>
            <a:noFill/>
          </a:ln>
        </p:spPr>
      </p:pic>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j-lt"/>
              <a:ea typeface="+mn-ea"/>
              <a:cs typeface="Arial" panose="020B0604020202020204" pitchFamily="34" charset="0"/>
            </a:endParaRPr>
          </a:p>
        </p:txBody>
      </p:sp>
      <p:sp>
        <p:nvSpPr>
          <p:cNvPr id="13" name="TextBox 12">
            <a:extLst>
              <a:ext uri="{FF2B5EF4-FFF2-40B4-BE49-F238E27FC236}">
                <a16:creationId xmlns:a16="http://schemas.microsoft.com/office/drawing/2014/main" id="{EC787E65-7BC7-3A67-8624-51EEA1A825B8}"/>
              </a:ext>
            </a:extLst>
          </p:cNvPr>
          <p:cNvSpPr txBox="1"/>
          <p:nvPr/>
        </p:nvSpPr>
        <p:spPr>
          <a:xfrm>
            <a:off x="1396212" y="6108938"/>
            <a:ext cx="1917513" cy="246221"/>
          </a:xfrm>
          <a:prstGeom prst="rect">
            <a:avLst/>
          </a:prstGeom>
          <a:noFill/>
        </p:spPr>
        <p:txBody>
          <a:bodyPr wrap="none" rtlCol="0">
            <a:spAutoFit/>
          </a:bodyPr>
          <a:lstStyle/>
          <a:p>
            <a:r>
              <a:rPr lang="en-US" sz="1000" b="1" dirty="0"/>
              <a:t>Fig.1) How Will QR System Work</a:t>
            </a:r>
            <a:endParaRPr lang="en-IN" sz="1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0CE467B-C522-9A2C-50AE-2F0DFF2EA3A8}"/>
              </a:ext>
            </a:extLst>
          </p:cNvPr>
          <p:cNvPicPr>
            <a:picLocks noChangeAspect="1"/>
          </p:cNvPicPr>
          <p:nvPr/>
        </p:nvPicPr>
        <p:blipFill>
          <a:blip r:embed="rId3"/>
          <a:stretch>
            <a:fillRect/>
          </a:stretch>
        </p:blipFill>
        <p:spPr>
          <a:xfrm>
            <a:off x="-56353" y="1124391"/>
            <a:ext cx="9335324" cy="5251120"/>
          </a:xfrm>
          <a:prstGeom prst="rect">
            <a:avLst/>
          </a:prstGeom>
        </p:spPr>
      </p:pic>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j-lt"/>
              <a:ea typeface="+mn-ea"/>
              <a:cs typeface="Arial" panose="020B0604020202020204" pitchFamily="34" charset="0"/>
            </a:endParaRPr>
          </a:p>
        </p:txBody>
      </p:sp>
      <p:sp>
        <p:nvSpPr>
          <p:cNvPr id="17409" name="Title 1"/>
          <p:cNvSpPr>
            <a:spLocks noGrp="1"/>
          </p:cNvSpPr>
          <p:nvPr>
            <p:ph type="title"/>
          </p:nvPr>
        </p:nvSpPr>
        <p:spPr>
          <a:xfrm>
            <a:off x="609600" y="12173"/>
            <a:ext cx="10972800" cy="1143000"/>
          </a:xfrm>
        </p:spPr>
        <p:txBody>
          <a:bodyPr/>
          <a:lstStyle/>
          <a:p>
            <a:pPr eaLnBrk="1" hangingPunct="1"/>
            <a:r>
              <a:rPr lang="en-US" sz="3600" b="1" dirty="0">
                <a:latin typeface="+mj-lt"/>
                <a:ea typeface="ＭＳ Ｐゴシック" pitchFamily="1" charset="-128"/>
                <a:cs typeface="Arial" panose="020B0604020202020204" pitchFamily="34"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latin typeface="+mj-lt"/>
                <a:cs typeface="Arial" panose="020B0604020202020204" pitchFamily="34" charset="0"/>
              </a:rPr>
              <a:pPr/>
              <a:t>3</a:t>
            </a:fld>
            <a:endParaRPr lang="en-US" b="1">
              <a:solidFill>
                <a:schemeClr val="bg1"/>
              </a:solidFill>
              <a:latin typeface="+mj-lt"/>
              <a:cs typeface="Arial" panose="020B0604020202020204" pitchFamily="34" charset="0"/>
            </a:endParaRPr>
          </a:p>
        </p:txBody>
      </p:sp>
      <p:sp>
        <p:nvSpPr>
          <p:cNvPr id="22" name="Rectangle 21">
            <a:extLst>
              <a:ext uri="{FF2B5EF4-FFF2-40B4-BE49-F238E27FC236}">
                <a16:creationId xmlns:a16="http://schemas.microsoft.com/office/drawing/2014/main" id="{FA6F8F1F-4A56-19AB-C46E-B14450DE0DDD}"/>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23" name="Slide Number Placeholder 5">
            <a:extLst>
              <a:ext uri="{FF2B5EF4-FFF2-40B4-BE49-F238E27FC236}">
                <a16:creationId xmlns:a16="http://schemas.microsoft.com/office/drawing/2014/main" id="{E092D074-C594-B5ED-74F7-67F8AA70249A}"/>
              </a:ext>
            </a:extLst>
          </p:cNvPr>
          <p:cNvSpPr txBox="1">
            <a:spLocks/>
          </p:cNvSpPr>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fontAlgn="base">
              <a:spcBef>
                <a:spcPct val="0"/>
              </a:spcBef>
              <a:spcAft>
                <a:spcPct val="0"/>
              </a:spcAft>
              <a:defRPr sz="1200" kern="1200">
                <a:solidFill>
                  <a:srgbClr val="898989"/>
                </a:solidFill>
                <a:latin typeface="TradeGothic" pitchFamily="1"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a:lstStyle>
          <a:p>
            <a:pPr>
              <a:defRPr/>
            </a:pPr>
            <a:fld id="{677C3CE7-23F7-4828-823C-E0205DF2CF97}" type="slidenum">
              <a:rPr lang="en-US" sz="1400" b="1" smtClean="0">
                <a:solidFill>
                  <a:prstClr val="white"/>
                </a:solidFill>
                <a:latin typeface="+mj-lt"/>
                <a:cs typeface="Arial" panose="020B0604020202020204" pitchFamily="34" charset="0"/>
              </a:rPr>
              <a:pPr>
                <a:defRPr/>
              </a:pPr>
              <a:t>3</a:t>
            </a:fld>
            <a:endParaRPr lang="en-US" sz="1400" b="1">
              <a:solidFill>
                <a:prstClr val="white"/>
              </a:solidFill>
              <a:latin typeface="+mj-lt"/>
              <a:cs typeface="Arial" panose="020B0604020202020204" pitchFamily="34" charset="0"/>
            </a:endParaRPr>
          </a:p>
        </p:txBody>
      </p:sp>
      <p:sp>
        <p:nvSpPr>
          <p:cNvPr id="24" name="Footer Placeholder 6">
            <a:extLst>
              <a:ext uri="{FF2B5EF4-FFF2-40B4-BE49-F238E27FC236}">
                <a16:creationId xmlns:a16="http://schemas.microsoft.com/office/drawing/2014/main" id="{EE41050A-1AC3-A194-AD1C-4021DC5CB982}"/>
              </a:ext>
            </a:extLst>
          </p:cNvPr>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white"/>
              </a:solidFill>
              <a:effectLst/>
              <a:uLnTx/>
              <a:uFillTx/>
              <a:latin typeface="+mj-lt"/>
              <a:cs typeface="Arial" panose="020B0604020202020204" pitchFamily="34" charset="0"/>
            </a:endParaRPr>
          </a:p>
        </p:txBody>
      </p:sp>
      <p:sp>
        <p:nvSpPr>
          <p:cNvPr id="20" name="TextBox 19">
            <a:extLst>
              <a:ext uri="{FF2B5EF4-FFF2-40B4-BE49-F238E27FC236}">
                <a16:creationId xmlns:a16="http://schemas.microsoft.com/office/drawing/2014/main" id="{788722CE-9E7F-C669-425A-64875433446B}"/>
              </a:ext>
            </a:extLst>
          </p:cNvPr>
          <p:cNvSpPr txBox="1"/>
          <p:nvPr/>
        </p:nvSpPr>
        <p:spPr>
          <a:xfrm>
            <a:off x="9032647" y="1606880"/>
            <a:ext cx="3419194"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2"/>
                </a:solidFill>
                <a:latin typeface="+mj-lt"/>
                <a:ea typeface="ＭＳ Ｐゴシック"/>
                <a:cs typeface="Arial" panose="020B0604020202020204" pitchFamily="34" charset="0"/>
              </a:rPr>
              <a:t>Hardware Used &amp; Costing:</a:t>
            </a:r>
            <a:endParaRPr lang="en-US" dirty="0">
              <a:latin typeface="+mj-lt"/>
              <a:ea typeface="ＭＳ Ｐゴシック"/>
              <a:cs typeface="Arial" panose="020B0604020202020204" pitchFamily="34" charset="0"/>
            </a:endParaRPr>
          </a:p>
          <a:p>
            <a:pPr marL="285750" indent="-285750" algn="l">
              <a:buFont typeface="Arial"/>
              <a:buChar char="•"/>
            </a:pPr>
            <a:r>
              <a:rPr lang="en-US" sz="1600" dirty="0">
                <a:latin typeface="+mj-lt"/>
                <a:ea typeface="ＭＳ Ｐゴシック"/>
                <a:cs typeface="Arial" panose="020B0604020202020204" pitchFamily="34" charset="0"/>
              </a:rPr>
              <a:t>ESP32</a:t>
            </a:r>
            <a:endParaRPr lang="en-US" sz="1600" dirty="0">
              <a:latin typeface="+mj-lt"/>
              <a:cs typeface="Arial" panose="020B0604020202020204" pitchFamily="34" charset="0"/>
            </a:endParaRPr>
          </a:p>
          <a:p>
            <a:pPr marL="285750" indent="-285750">
              <a:buFont typeface="Arial"/>
              <a:buChar char="•"/>
            </a:pPr>
            <a:r>
              <a:rPr lang="en-US" sz="1600" dirty="0">
                <a:latin typeface="+mj-lt"/>
                <a:ea typeface="ＭＳ Ｐゴシック"/>
                <a:cs typeface="Arial" panose="020B0604020202020204" pitchFamily="34" charset="0"/>
              </a:rPr>
              <a:t>LCD Screen</a:t>
            </a:r>
          </a:p>
          <a:p>
            <a:pPr marL="285750" indent="-285750">
              <a:buFont typeface="Arial"/>
              <a:buChar char="•"/>
            </a:pPr>
            <a:r>
              <a:rPr lang="en-US" sz="1600" dirty="0">
                <a:latin typeface="+mj-lt"/>
                <a:ea typeface="ＭＳ Ｐゴシック"/>
                <a:cs typeface="Arial" panose="020B0604020202020204" pitchFamily="34" charset="0"/>
              </a:rPr>
              <a:t>Battery &amp; it’s Module</a:t>
            </a:r>
          </a:p>
          <a:p>
            <a:pPr marL="285750" indent="-285750">
              <a:buFont typeface="Arial"/>
              <a:buChar char="•"/>
            </a:pPr>
            <a:endParaRPr lang="en-US" sz="1600" dirty="0">
              <a:latin typeface="+mj-lt"/>
              <a:ea typeface="ＭＳ Ｐゴシック"/>
              <a:cs typeface="Arial" panose="020B0604020202020204" pitchFamily="34" charset="0"/>
            </a:endParaRPr>
          </a:p>
          <a:p>
            <a:r>
              <a:rPr lang="en-US" sz="2000" b="1" dirty="0">
                <a:latin typeface="+mj-lt"/>
                <a:ea typeface="ＭＳ Ｐゴシック"/>
                <a:cs typeface="Arial" panose="020B0604020202020204" pitchFamily="34" charset="0"/>
              </a:rPr>
              <a:t>Total costing :- </a:t>
            </a:r>
            <a:r>
              <a:rPr lang="en-US" sz="2000" b="1" dirty="0">
                <a:solidFill>
                  <a:srgbClr val="323232"/>
                </a:solidFill>
                <a:latin typeface="+mj-lt"/>
                <a:ea typeface="Roboto Slab"/>
                <a:cs typeface="Arial" panose="020B0604020202020204" pitchFamily="34" charset="0"/>
              </a:rPr>
              <a:t>₹899</a:t>
            </a:r>
          </a:p>
          <a:p>
            <a:pPr marL="285750" marR="0" lvl="0" indent="-285750" algn="l" defTabSz="457200" rtl="0" eaLnBrk="1" fontAlgn="base" latinLnBrk="0" hangingPunct="1">
              <a:lnSpc>
                <a:spcPct val="100000"/>
              </a:lnSpc>
              <a:spcBef>
                <a:spcPct val="0"/>
              </a:spcBef>
              <a:spcAft>
                <a:spcPct val="0"/>
              </a:spcAft>
              <a:buClrTx/>
              <a:buSzTx/>
              <a:buFont typeface="Arial"/>
              <a:buChar char="•"/>
              <a:tabLst/>
              <a:defRPr/>
            </a:pPr>
            <a:endParaRPr lang="en-US" sz="1600" dirty="0">
              <a:solidFill>
                <a:prstClr val="black"/>
              </a:solidFill>
              <a:latin typeface="+mj-lt"/>
              <a:ea typeface="ＭＳ Ｐゴシック"/>
              <a:cs typeface="Arial" panose="020B0604020202020204" pitchFamily="34" charset="0"/>
            </a:endParaRPr>
          </a:p>
        </p:txBody>
      </p:sp>
      <p:sp>
        <p:nvSpPr>
          <p:cNvPr id="14" name="Content Placeholder 13">
            <a:extLst>
              <a:ext uri="{FF2B5EF4-FFF2-40B4-BE49-F238E27FC236}">
                <a16:creationId xmlns:a16="http://schemas.microsoft.com/office/drawing/2014/main" id="{C6AF8111-44A4-9663-9EBB-FCEB465E170E}"/>
              </a:ext>
            </a:extLst>
          </p:cNvPr>
          <p:cNvSpPr>
            <a:spLocks noGrp="1"/>
          </p:cNvSpPr>
          <p:nvPr>
            <p:ph sz="half" idx="2"/>
          </p:nvPr>
        </p:nvSpPr>
        <p:spPr>
          <a:xfrm>
            <a:off x="9032647" y="3414400"/>
            <a:ext cx="2753241" cy="2251438"/>
          </a:xfrm>
        </p:spPr>
        <p:txBody>
          <a:bodyPr>
            <a:noAutofit/>
          </a:bodyPr>
          <a:lstStyle/>
          <a:p>
            <a:pPr marL="0" indent="0">
              <a:buNone/>
            </a:pPr>
            <a:r>
              <a:rPr lang="en-US" sz="1800" b="1" dirty="0">
                <a:solidFill>
                  <a:schemeClr val="tx2"/>
                </a:solidFill>
                <a:latin typeface="+mj-lt"/>
                <a:ea typeface="ＭＳ Ｐゴシック"/>
                <a:cs typeface="Arial" panose="020B0604020202020204" pitchFamily="34" charset="0"/>
              </a:rPr>
              <a:t>Frontend:</a:t>
            </a:r>
          </a:p>
          <a:p>
            <a:r>
              <a:rPr lang="en-US" sz="1600" dirty="0">
                <a:latin typeface="+mj-lt"/>
                <a:ea typeface="ＭＳ Ｐゴシック"/>
                <a:cs typeface="Arial" panose="020B0604020202020204" pitchFamily="34" charset="0"/>
              </a:rPr>
              <a:t>APP(for students)</a:t>
            </a:r>
          </a:p>
          <a:p>
            <a:r>
              <a:rPr lang="en-US" sz="1600" dirty="0">
                <a:latin typeface="+mj-lt"/>
                <a:ea typeface="ＭＳ Ｐゴシック"/>
                <a:cs typeface="Arial" panose="020B0604020202020204" pitchFamily="34" charset="0"/>
              </a:rPr>
              <a:t>WEB APP (for admin)</a:t>
            </a:r>
            <a:endParaRPr lang="en-US" sz="1600" dirty="0">
              <a:latin typeface="+mj-lt"/>
              <a:cs typeface="Arial" panose="020B0604020202020204" pitchFamily="34" charset="0"/>
            </a:endParaRPr>
          </a:p>
          <a:p>
            <a:pPr marL="0" indent="0">
              <a:buNone/>
            </a:pPr>
            <a:r>
              <a:rPr lang="en-US" sz="1800" b="1" dirty="0">
                <a:solidFill>
                  <a:schemeClr val="tx2"/>
                </a:solidFill>
                <a:latin typeface="+mj-lt"/>
                <a:ea typeface="ＭＳ Ｐゴシック"/>
                <a:cs typeface="Arial" panose="020B0604020202020204" pitchFamily="34" charset="0"/>
              </a:rPr>
              <a:t>Backend:</a:t>
            </a:r>
          </a:p>
          <a:p>
            <a:r>
              <a:rPr lang="en-US" sz="1600" dirty="0" err="1">
                <a:latin typeface="+mj-lt"/>
                <a:ea typeface="ＭＳ Ｐゴシック"/>
                <a:cs typeface="Arial" panose="020B0604020202020204" pitchFamily="34" charset="0"/>
              </a:rPr>
              <a:t>Directus</a:t>
            </a:r>
            <a:endParaRPr lang="en-US" sz="1600" dirty="0">
              <a:latin typeface="+mj-lt"/>
              <a:ea typeface="ＭＳ Ｐゴシック"/>
              <a:cs typeface="Arial" panose="020B0604020202020204" pitchFamily="34" charset="0"/>
            </a:endParaRPr>
          </a:p>
          <a:p>
            <a:r>
              <a:rPr lang="en-US" sz="1600" dirty="0">
                <a:latin typeface="+mj-lt"/>
                <a:ea typeface="ＭＳ Ｐゴシック"/>
                <a:cs typeface="Arial" panose="020B0604020202020204" pitchFamily="34" charset="0"/>
              </a:rPr>
              <a:t>Python</a:t>
            </a:r>
          </a:p>
          <a:p>
            <a:r>
              <a:rPr lang="en-US" sz="1600" dirty="0">
                <a:latin typeface="+mj-lt"/>
                <a:ea typeface="ＭＳ Ｐゴシック"/>
                <a:cs typeface="Arial" panose="020B0604020202020204" pitchFamily="34" charset="0"/>
              </a:rPr>
              <a:t>Database</a:t>
            </a:r>
          </a:p>
          <a:p>
            <a:pPr marL="0" indent="0">
              <a:buNone/>
            </a:pPr>
            <a:endParaRPr lang="en-US" dirty="0">
              <a:latin typeface="+mj-lt"/>
              <a:ea typeface="ＭＳ Ｐゴシック"/>
              <a:cs typeface="Arial" panose="020B0604020202020204" pitchFamily="34" charset="0"/>
            </a:endParaRPr>
          </a:p>
        </p:txBody>
      </p:sp>
      <p:sp>
        <p:nvSpPr>
          <p:cNvPr id="7" name="TextBox 6">
            <a:extLst>
              <a:ext uri="{FF2B5EF4-FFF2-40B4-BE49-F238E27FC236}">
                <a16:creationId xmlns:a16="http://schemas.microsoft.com/office/drawing/2014/main" id="{D4D789D2-A7FA-3B0B-603A-48271EF8EDC2}"/>
              </a:ext>
            </a:extLst>
          </p:cNvPr>
          <p:cNvSpPr txBox="1"/>
          <p:nvPr/>
        </p:nvSpPr>
        <p:spPr>
          <a:xfrm>
            <a:off x="3259817" y="1119418"/>
            <a:ext cx="2702984" cy="276999"/>
          </a:xfrm>
          <a:prstGeom prst="rect">
            <a:avLst/>
          </a:prstGeom>
          <a:noFill/>
        </p:spPr>
        <p:txBody>
          <a:bodyPr wrap="none" rtlCol="0">
            <a:spAutoFit/>
          </a:bodyPr>
          <a:lstStyle/>
          <a:p>
            <a:r>
              <a:rPr lang="en-US" sz="1200" b="1" i="0" dirty="0">
                <a:solidFill>
                  <a:srgbClr val="1A1A1A"/>
                </a:solidFill>
                <a:effectLst/>
                <a:latin typeface="+mj-lt"/>
                <a:cs typeface="Arial" panose="020B0604020202020204" pitchFamily="34" charset="0"/>
              </a:rPr>
              <a:t>Dynamic QR code and Face Recognition</a:t>
            </a:r>
            <a:endParaRPr lang="en-IN" sz="1200" b="1" dirty="0">
              <a:latin typeface="+mj-lt"/>
              <a:cs typeface="Arial" panose="020B0604020202020204" pitchFamily="34" charset="0"/>
            </a:endParaRPr>
          </a:p>
        </p:txBody>
      </p:sp>
      <p:sp>
        <p:nvSpPr>
          <p:cNvPr id="18" name="TextBox 17">
            <a:extLst>
              <a:ext uri="{FF2B5EF4-FFF2-40B4-BE49-F238E27FC236}">
                <a16:creationId xmlns:a16="http://schemas.microsoft.com/office/drawing/2014/main" id="{10FA91F1-23B2-4545-44A6-67B6997DBAD6}"/>
              </a:ext>
            </a:extLst>
          </p:cNvPr>
          <p:cNvSpPr txBox="1"/>
          <p:nvPr/>
        </p:nvSpPr>
        <p:spPr>
          <a:xfrm>
            <a:off x="3668002" y="6074646"/>
            <a:ext cx="6281530" cy="246221"/>
          </a:xfrm>
          <a:prstGeom prst="rect">
            <a:avLst/>
          </a:prstGeom>
          <a:noFill/>
        </p:spPr>
        <p:txBody>
          <a:bodyPr wrap="square">
            <a:spAutoFit/>
          </a:bodyPr>
          <a:lstStyle/>
          <a:p>
            <a:r>
              <a:rPr lang="en-US" sz="1000" b="1" dirty="0"/>
              <a:t>Fig.2) How Will Overall System Work</a:t>
            </a:r>
            <a:endParaRPr lang="en-IN" sz="1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17409" name="Title 1"/>
          <p:cNvSpPr>
            <a:spLocks noGrp="1"/>
          </p:cNvSpPr>
          <p:nvPr>
            <p:ph type="title"/>
          </p:nvPr>
        </p:nvSpPr>
        <p:spPr>
          <a:xfrm>
            <a:off x="763800" y="-127639"/>
            <a:ext cx="10972800" cy="1143000"/>
          </a:xfrm>
        </p:spPr>
        <p:txBody>
          <a:bodyPr/>
          <a:lstStyle/>
          <a:p>
            <a:pPr eaLnBrk="1" hangingPunct="1"/>
            <a:r>
              <a:rPr lang="en-US" sz="3600" b="1" dirty="0">
                <a:latin typeface="+mj-lt"/>
                <a:ea typeface="ＭＳ Ｐゴシック" pitchFamily="1" charset="-128"/>
                <a:cs typeface="Arial" panose="020B0604020202020204" pitchFamily="34"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400" b="1" i="0" u="none" strike="noStrike" kern="1200" cap="none" spc="0" normalizeH="0" baseline="0" noProof="0">
                <a:ln>
                  <a:noFill/>
                </a:ln>
                <a:solidFill>
                  <a:prstClr val="white"/>
                </a:solidFill>
                <a:effectLst/>
                <a:uLnTx/>
                <a:uFillTx/>
                <a:latin typeface="+mj-lt"/>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400" b="1" i="0" u="none" strike="noStrike" kern="1200" cap="none" spc="0" normalizeH="0" baseline="0" noProof="0">
              <a:ln>
                <a:noFill/>
              </a:ln>
              <a:solidFill>
                <a:prstClr val="white"/>
              </a:solidFill>
              <a:effectLst/>
              <a:uLnTx/>
              <a:uFillTx/>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white"/>
              </a:solidFill>
              <a:effectLst/>
              <a:uLnTx/>
              <a:uFillTx/>
              <a:latin typeface="+mj-lt"/>
              <a:cs typeface="Arial" panose="020B0604020202020204" pitchFamily="34" charset="0"/>
            </a:endParaRPr>
          </a:p>
        </p:txBody>
      </p:sp>
      <p:sp>
        <p:nvSpPr>
          <p:cNvPr id="3" name="TextBox 2">
            <a:extLst>
              <a:ext uri="{FF2B5EF4-FFF2-40B4-BE49-F238E27FC236}">
                <a16:creationId xmlns:a16="http://schemas.microsoft.com/office/drawing/2014/main" id="{986868D4-174F-BB8A-5A96-94BB983BD199}"/>
              </a:ext>
            </a:extLst>
          </p:cNvPr>
          <p:cNvSpPr txBox="1"/>
          <p:nvPr/>
        </p:nvSpPr>
        <p:spPr>
          <a:xfrm>
            <a:off x="6404400" y="3182485"/>
            <a:ext cx="5646086"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mj-lt"/>
                <a:ea typeface="ＭＳ Ｐゴシック"/>
                <a:cs typeface="Arial" panose="020B0604020202020204" pitchFamily="34" charset="0"/>
              </a:rPr>
              <a:t>Viability:</a:t>
            </a:r>
          </a:p>
          <a:p>
            <a:pPr marL="342900" indent="-342900">
              <a:buFont typeface="Arial" panose="020B0604020202020204" pitchFamily="34" charset="0"/>
              <a:buChar char="•"/>
            </a:pPr>
            <a:r>
              <a:rPr lang="en-US" b="1" dirty="0">
                <a:latin typeface="+mj-lt"/>
                <a:ea typeface="ＭＳ Ｐゴシック"/>
                <a:cs typeface="Arial" panose="020B0604020202020204" pitchFamily="34" charset="0"/>
              </a:rPr>
              <a:t>Cost: </a:t>
            </a:r>
            <a:r>
              <a:rPr lang="en-US" dirty="0">
                <a:latin typeface="+mj-lt"/>
                <a:ea typeface="ＭＳ Ｐゴシック"/>
                <a:cs typeface="Arial" panose="020B0604020202020204" pitchFamily="34" charset="0"/>
              </a:rPr>
              <a:t>Initial investment offset by long-term savings in administrative costs and efficiency gains.</a:t>
            </a:r>
          </a:p>
          <a:p>
            <a:pPr marL="342900" indent="-342900">
              <a:buFont typeface="Arial" panose="020B0604020202020204" pitchFamily="34" charset="0"/>
              <a:buChar char="•"/>
            </a:pPr>
            <a:r>
              <a:rPr lang="en-US" b="1" dirty="0">
                <a:latin typeface="+mj-lt"/>
                <a:ea typeface="ＭＳ Ｐゴシック"/>
                <a:cs typeface="Arial" panose="020B0604020202020204" pitchFamily="34" charset="0"/>
              </a:rPr>
              <a:t>Sustainability: </a:t>
            </a:r>
            <a:r>
              <a:rPr lang="en-US" dirty="0">
                <a:latin typeface="+mj-lt"/>
                <a:ea typeface="ＭＳ Ｐゴシック"/>
                <a:cs typeface="Arial" panose="020B0604020202020204" pitchFamily="34" charset="0"/>
              </a:rPr>
              <a:t>Reduces paperwork, scalable across departments, and future-proof with ABC integration.</a:t>
            </a:r>
          </a:p>
          <a:p>
            <a:pPr marL="342900" indent="-342900">
              <a:buFont typeface="Arial" panose="020B0604020202020204" pitchFamily="34" charset="0"/>
              <a:buChar char="•"/>
            </a:pPr>
            <a:r>
              <a:rPr lang="en-US" b="1" dirty="0">
                <a:latin typeface="+mj-lt"/>
                <a:ea typeface="ＭＳ Ｐゴシック"/>
                <a:cs typeface="Arial" panose="020B0604020202020204" pitchFamily="34" charset="0"/>
              </a:rPr>
              <a:t>Satisfaction</a:t>
            </a:r>
            <a:r>
              <a:rPr lang="en-US" dirty="0">
                <a:latin typeface="+mj-lt"/>
                <a:ea typeface="ＭＳ Ｐゴシック"/>
                <a:cs typeface="Arial" panose="020B0604020202020204" pitchFamily="34" charset="0"/>
              </a:rPr>
              <a:t>: Streamlined processes improve student/staff experience, supporting institutional modernization.</a:t>
            </a:r>
          </a:p>
        </p:txBody>
      </p:sp>
      <p:sp>
        <p:nvSpPr>
          <p:cNvPr id="4" name="TextBox 3">
            <a:extLst>
              <a:ext uri="{FF2B5EF4-FFF2-40B4-BE49-F238E27FC236}">
                <a16:creationId xmlns:a16="http://schemas.microsoft.com/office/drawing/2014/main" id="{A5913072-CE60-E7AD-7D43-FF4A9823D508}"/>
              </a:ext>
            </a:extLst>
          </p:cNvPr>
          <p:cNvSpPr txBox="1"/>
          <p:nvPr/>
        </p:nvSpPr>
        <p:spPr>
          <a:xfrm>
            <a:off x="6404400" y="781828"/>
            <a:ext cx="5646086"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mj-lt"/>
                <a:ea typeface="Calibri"/>
                <a:cs typeface="Arial" panose="020B0604020202020204" pitchFamily="34" charset="0"/>
              </a:rPr>
              <a:t>Feasibility:</a:t>
            </a:r>
          </a:p>
          <a:p>
            <a:pPr marL="285750" indent="-285750">
              <a:buFont typeface="Arial"/>
              <a:buChar char="•"/>
            </a:pPr>
            <a:r>
              <a:rPr lang="en-US" b="1" dirty="0">
                <a:latin typeface="+mj-lt"/>
                <a:ea typeface="Calibri"/>
                <a:cs typeface="Arial" panose="020B0604020202020204" pitchFamily="34" charset="0"/>
              </a:rPr>
              <a:t>Technical: </a:t>
            </a:r>
            <a:r>
              <a:rPr lang="en-US" dirty="0">
                <a:latin typeface="+mj-lt"/>
                <a:ea typeface="Calibri"/>
                <a:cs typeface="Arial" panose="020B0604020202020204" pitchFamily="34" charset="0"/>
              </a:rPr>
              <a:t>QR code, face recognition, Aadhar, ABC integration are feasible with existing technology and cloud infrastructure.</a:t>
            </a:r>
          </a:p>
          <a:p>
            <a:pPr marL="285750" indent="-285750">
              <a:buFont typeface="Arial"/>
              <a:buChar char="•"/>
            </a:pPr>
            <a:r>
              <a:rPr lang="en-US" b="1" dirty="0">
                <a:latin typeface="+mj-lt"/>
                <a:ea typeface="Calibri"/>
                <a:cs typeface="Arial" panose="020B0604020202020204" pitchFamily="34" charset="0"/>
              </a:rPr>
              <a:t>Operational: </a:t>
            </a:r>
            <a:r>
              <a:rPr lang="en-US" dirty="0">
                <a:latin typeface="+mj-lt"/>
                <a:ea typeface="Calibri"/>
                <a:cs typeface="Arial" panose="020B0604020202020204" pitchFamily="34" charset="0"/>
              </a:rPr>
              <a:t>Intuitive system with minimal training required; easily adopted across departments.</a:t>
            </a:r>
          </a:p>
          <a:p>
            <a:pPr marL="285750" indent="-285750">
              <a:buFont typeface="Arial"/>
              <a:buChar char="•"/>
            </a:pPr>
            <a:r>
              <a:rPr lang="en-US" b="1" dirty="0">
                <a:latin typeface="+mj-lt"/>
                <a:ea typeface="Calibri"/>
                <a:cs typeface="Arial" panose="020B0604020202020204" pitchFamily="34" charset="0"/>
              </a:rPr>
              <a:t>Legal/Security: </a:t>
            </a:r>
            <a:r>
              <a:rPr lang="en-US" dirty="0">
                <a:latin typeface="+mj-lt"/>
                <a:ea typeface="Calibri"/>
                <a:cs typeface="Arial" panose="020B0604020202020204" pitchFamily="34" charset="0"/>
              </a:rPr>
              <a:t>Follows data protection and Aadhar compliance regulations.</a:t>
            </a:r>
            <a:endParaRPr lang="en-US" sz="1600" dirty="0">
              <a:latin typeface="+mj-lt"/>
              <a:ea typeface="Calibri"/>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2DD73A2-2D59-FCD2-D6D0-2CF1336AFCB6}"/>
                  </a:ext>
                </a:extLst>
              </p14:cNvPr>
              <p14:cNvContentPartPr/>
              <p14:nvPr/>
            </p14:nvContentPartPr>
            <p14:xfrm>
              <a:off x="5727833" y="2059003"/>
              <a:ext cx="360" cy="360"/>
            </p14:xfrm>
          </p:contentPart>
        </mc:Choice>
        <mc:Fallback xmlns="">
          <p:pic>
            <p:nvPicPr>
              <p:cNvPr id="2" name="Ink 1">
                <a:extLst>
                  <a:ext uri="{FF2B5EF4-FFF2-40B4-BE49-F238E27FC236}">
                    <a16:creationId xmlns:a16="http://schemas.microsoft.com/office/drawing/2014/main" id="{E2DD73A2-2D59-FCD2-D6D0-2CF1336AFCB6}"/>
                  </a:ext>
                </a:extLst>
              </p:cNvPr>
              <p:cNvPicPr/>
              <p:nvPr/>
            </p:nvPicPr>
            <p:blipFill>
              <a:blip r:embed="rId5"/>
              <a:stretch>
                <a:fillRect/>
              </a:stretch>
            </p:blipFill>
            <p:spPr>
              <a:xfrm>
                <a:off x="5719193" y="2050003"/>
                <a:ext cx="18000" cy="18000"/>
              </a:xfrm>
              <a:prstGeom prst="rect">
                <a:avLst/>
              </a:prstGeom>
            </p:spPr>
          </p:pic>
        </mc:Fallback>
      </mc:AlternateContent>
      <p:pic>
        <p:nvPicPr>
          <p:cNvPr id="16" name="Picture 15">
            <a:extLst>
              <a:ext uri="{FF2B5EF4-FFF2-40B4-BE49-F238E27FC236}">
                <a16:creationId xmlns:a16="http://schemas.microsoft.com/office/drawing/2014/main" id="{261A148E-80B8-6F83-F35B-F21AA9C9723C}"/>
              </a:ext>
            </a:extLst>
          </p:cNvPr>
          <p:cNvPicPr>
            <a:picLocks noChangeAspect="1"/>
          </p:cNvPicPr>
          <p:nvPr/>
        </p:nvPicPr>
        <p:blipFill>
          <a:blip r:embed="rId6"/>
          <a:stretch>
            <a:fillRect/>
          </a:stretch>
        </p:blipFill>
        <p:spPr>
          <a:xfrm>
            <a:off x="141514" y="265426"/>
            <a:ext cx="6286617" cy="5952814"/>
          </a:xfrm>
          <a:prstGeom prst="rect">
            <a:avLst/>
          </a:prstGeom>
        </p:spPr>
      </p:pic>
      <p:sp>
        <p:nvSpPr>
          <p:cNvPr id="18" name="TextBox 17">
            <a:extLst>
              <a:ext uri="{FF2B5EF4-FFF2-40B4-BE49-F238E27FC236}">
                <a16:creationId xmlns:a16="http://schemas.microsoft.com/office/drawing/2014/main" id="{EE5E211B-4E65-56E3-E6E2-5170A7D96782}"/>
              </a:ext>
            </a:extLst>
          </p:cNvPr>
          <p:cNvSpPr txBox="1"/>
          <p:nvPr/>
        </p:nvSpPr>
        <p:spPr>
          <a:xfrm>
            <a:off x="1504785" y="6104406"/>
            <a:ext cx="6094674" cy="246221"/>
          </a:xfrm>
          <a:prstGeom prst="rect">
            <a:avLst/>
          </a:prstGeom>
          <a:noFill/>
        </p:spPr>
        <p:txBody>
          <a:bodyPr wrap="square">
            <a:spAutoFit/>
          </a:bodyPr>
          <a:lstStyle/>
          <a:p>
            <a:r>
              <a:rPr lang="en-US" sz="1000" b="1" dirty="0"/>
              <a:t>Fig.3) How Will Admin Dashboard Work</a:t>
            </a:r>
            <a:endParaRPr lang="en-IN" sz="1000" b="1"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mj-lt"/>
              <a:cs typeface="Arial" panose="020B0604020202020204" pitchFamily="34" charset="0"/>
            </a:endParaRPr>
          </a:p>
        </p:txBody>
      </p:sp>
      <p:sp>
        <p:nvSpPr>
          <p:cNvPr id="17409" name="Title 1"/>
          <p:cNvSpPr>
            <a:spLocks noGrp="1"/>
          </p:cNvSpPr>
          <p:nvPr>
            <p:ph type="title"/>
          </p:nvPr>
        </p:nvSpPr>
        <p:spPr>
          <a:xfrm>
            <a:off x="609600" y="-3218"/>
            <a:ext cx="10972800" cy="1143000"/>
          </a:xfrm>
        </p:spPr>
        <p:txBody>
          <a:bodyPr/>
          <a:lstStyle/>
          <a:p>
            <a:pPr eaLnBrk="1" hangingPunct="1"/>
            <a:r>
              <a:rPr lang="en-US" sz="3200" b="1" dirty="0">
                <a:latin typeface="+mj-lt"/>
                <a:ea typeface="ＭＳ Ｐゴシック" pitchFamily="1" charset="-128"/>
                <a:cs typeface="Arial" panose="020B0604020202020204" pitchFamily="34" charset="0"/>
              </a:rPr>
              <a:t>FUTURE SCOPE &amp; IMPACT ,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mj-lt"/>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a:ln>
                <a:noFill/>
              </a:ln>
              <a:solidFill>
                <a:prstClr val="white"/>
              </a:solidFill>
              <a:effectLst/>
              <a:uLnTx/>
              <a:uFillTx/>
              <a:latin typeface="+mj-lt"/>
              <a:cs typeface="Arial" panose="020B0604020202020204" pitchFamily="34" charset="0"/>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j-lt"/>
              <a:cs typeface="Arial" panose="020B0604020202020204" pitchFamily="34" charset="0"/>
            </a:endParaRPr>
          </a:p>
        </p:txBody>
      </p:sp>
      <p:sp>
        <p:nvSpPr>
          <p:cNvPr id="3" name="TextBox 2">
            <a:extLst>
              <a:ext uri="{FF2B5EF4-FFF2-40B4-BE49-F238E27FC236}">
                <a16:creationId xmlns:a16="http://schemas.microsoft.com/office/drawing/2014/main" id="{A02F24E4-25C2-9B6C-7B5F-C13621942A0B}"/>
              </a:ext>
            </a:extLst>
          </p:cNvPr>
          <p:cNvSpPr txBox="1"/>
          <p:nvPr/>
        </p:nvSpPr>
        <p:spPr>
          <a:xfrm>
            <a:off x="5104435" y="1301614"/>
            <a:ext cx="6762800" cy="4616648"/>
          </a:xfrm>
          <a:prstGeom prst="rect">
            <a:avLst/>
          </a:prstGeom>
          <a:noFill/>
        </p:spPr>
        <p:txBody>
          <a:bodyPr wrap="square" lIns="91440" tIns="45720" rIns="91440" bIns="45720" anchor="t">
            <a:spAutoFit/>
          </a:bodyPr>
          <a:lstStyle/>
          <a:p>
            <a:r>
              <a:rPr lang="en-US" sz="1400" b="1" dirty="0"/>
              <a:t>Market Research with Financial Insights</a:t>
            </a:r>
          </a:p>
          <a:p>
            <a:pPr>
              <a:buFont typeface="+mj-lt"/>
              <a:buAutoNum type="arabicPeriod"/>
            </a:pPr>
            <a:r>
              <a:rPr lang="en-US" sz="1400" b="1" dirty="0"/>
              <a:t>Target Market:</a:t>
            </a:r>
            <a:endParaRPr lang="en-US" sz="1400" dirty="0"/>
          </a:p>
          <a:p>
            <a:pPr marL="742950" lvl="1" indent="-285750">
              <a:buFont typeface="Arial" panose="020B0604020202020204" pitchFamily="34" charset="0"/>
              <a:buChar char="•"/>
            </a:pPr>
            <a:r>
              <a:rPr lang="en-US" sz="1400" dirty="0"/>
              <a:t>Schools, colleges, universities, and corporate training centers looking to improve administrative efficiency and monitoring through smart solutions.</a:t>
            </a:r>
          </a:p>
          <a:p>
            <a:pPr>
              <a:buFont typeface="+mj-lt"/>
              <a:buAutoNum type="arabicPeriod"/>
            </a:pPr>
            <a:r>
              <a:rPr lang="en-US" sz="1400" b="1" dirty="0"/>
              <a:t>Trends:</a:t>
            </a:r>
            <a:endParaRPr lang="en-US" sz="1400" dirty="0"/>
          </a:p>
          <a:p>
            <a:pPr marL="742950" lvl="1" indent="-285750">
              <a:buFont typeface="Arial" panose="020B0604020202020204" pitchFamily="34" charset="0"/>
              <a:buChar char="•"/>
            </a:pPr>
            <a:r>
              <a:rPr lang="en-US" sz="1400" dirty="0"/>
              <a:t>Increasing demand for smart campus solutions driven by the shift towards digital infrastructure and remote monitoring post-pandemic.</a:t>
            </a:r>
          </a:p>
          <a:p>
            <a:pPr>
              <a:buFont typeface="+mj-lt"/>
              <a:buAutoNum type="arabicPeriod"/>
            </a:pPr>
            <a:r>
              <a:rPr lang="en-US" sz="1400" b="1" dirty="0"/>
              <a:t>Market Size:</a:t>
            </a:r>
            <a:endParaRPr lang="en-US" sz="1400" dirty="0"/>
          </a:p>
          <a:p>
            <a:pPr marL="742950" lvl="1" indent="-285750">
              <a:buFont typeface="+mj-lt"/>
              <a:buAutoNum type="arabicPeriod"/>
            </a:pPr>
            <a:r>
              <a:rPr lang="en-US" sz="1400" dirty="0"/>
              <a:t>The global smart campus market is projected to grow significantly, with estimates suggesting a value of </a:t>
            </a:r>
            <a:r>
              <a:rPr lang="en-US" sz="1400" b="1" dirty="0"/>
              <a:t>over USD 20 billion by 2030</a:t>
            </a:r>
            <a:r>
              <a:rPr lang="en-US" sz="1400" dirty="0"/>
              <a:t>, driven by investments in IoT, AI, and cloud-based campus management systems​</a:t>
            </a:r>
          </a:p>
          <a:p>
            <a:pPr marL="742950" lvl="1" indent="-285750">
              <a:buFont typeface="+mj-lt"/>
              <a:buAutoNum type="arabicPeriod"/>
            </a:pPr>
            <a:r>
              <a:rPr lang="en-US" sz="1400" dirty="0">
                <a:hlinkClick r:id="rId3"/>
              </a:rPr>
              <a:t>The Market Reports</a:t>
            </a:r>
            <a:endParaRPr lang="en-US" sz="1400" dirty="0"/>
          </a:p>
          <a:p>
            <a:pPr marL="742950" lvl="1" indent="-285750">
              <a:buFont typeface="+mj-lt"/>
              <a:buAutoNum type="arabicPeriod"/>
            </a:pPr>
            <a:r>
              <a:rPr lang="en-US" sz="1400" dirty="0"/>
              <a:t>​</a:t>
            </a:r>
            <a:r>
              <a:rPr lang="en-US" sz="1400" dirty="0">
                <a:hlinkClick r:id="rId4"/>
              </a:rPr>
              <a:t>Valuates Reports</a:t>
            </a:r>
            <a:endParaRPr lang="en-US" sz="1400" dirty="0"/>
          </a:p>
          <a:p>
            <a:pPr>
              <a:buFont typeface="+mj-lt"/>
              <a:buAutoNum type="arabicPeriod"/>
            </a:pPr>
            <a:r>
              <a:rPr lang="en-US" sz="1400" b="1" dirty="0"/>
              <a:t>Competition:</a:t>
            </a:r>
            <a:endParaRPr lang="en-US" sz="1400" dirty="0"/>
          </a:p>
          <a:p>
            <a:pPr marL="742950" lvl="1" indent="-285750">
              <a:buFont typeface="Arial" panose="020B0604020202020204" pitchFamily="34" charset="0"/>
              <a:buChar char="•"/>
            </a:pPr>
            <a:r>
              <a:rPr lang="en-US" sz="1400" dirty="0"/>
              <a:t>Competing with platforms like </a:t>
            </a:r>
            <a:r>
              <a:rPr lang="en-US" sz="1400" dirty="0" err="1"/>
              <a:t>Classter</a:t>
            </a:r>
            <a:r>
              <a:rPr lang="en-US" sz="1400" dirty="0"/>
              <a:t>, Alma, and PowerSchool, </a:t>
            </a:r>
            <a:r>
              <a:rPr lang="en-US" sz="1400" dirty="0" err="1"/>
              <a:t>SarvaLink's</a:t>
            </a:r>
            <a:r>
              <a:rPr lang="en-US" sz="1400" dirty="0"/>
              <a:t> solution offers enhanced hardware-software integration with features like RFID and face recognition for better attendance management.</a:t>
            </a:r>
          </a:p>
          <a:p>
            <a:pPr>
              <a:buFont typeface="+mj-lt"/>
              <a:buAutoNum type="arabicPeriod"/>
            </a:pPr>
            <a:r>
              <a:rPr lang="en-US" sz="1400" b="1" dirty="0"/>
              <a:t>Opportunities:</a:t>
            </a:r>
            <a:endParaRPr lang="en-US" sz="1400" dirty="0"/>
          </a:p>
          <a:p>
            <a:pPr marL="742950" lvl="1" indent="-285750">
              <a:buFont typeface="Arial" panose="020B0604020202020204" pitchFamily="34" charset="0"/>
              <a:buChar char="•"/>
            </a:pPr>
            <a:r>
              <a:rPr lang="en-US" sz="1400" dirty="0"/>
              <a:t>Collaboration with government initiatives (e.g., Smart India Hackathon), subscription-based revenue models, and partnerships with EdTech companies to expand into new markets.</a:t>
            </a:r>
          </a:p>
        </p:txBody>
      </p:sp>
      <p:sp>
        <p:nvSpPr>
          <p:cNvPr id="12" name="TextBox 11">
            <a:extLst>
              <a:ext uri="{FF2B5EF4-FFF2-40B4-BE49-F238E27FC236}">
                <a16:creationId xmlns:a16="http://schemas.microsoft.com/office/drawing/2014/main" id="{BEF59DED-4AE2-4659-1AB4-3CB541857724}"/>
              </a:ext>
            </a:extLst>
          </p:cNvPr>
          <p:cNvSpPr txBox="1"/>
          <p:nvPr/>
        </p:nvSpPr>
        <p:spPr>
          <a:xfrm>
            <a:off x="678332" y="1386283"/>
            <a:ext cx="4183035" cy="4154984"/>
          </a:xfrm>
          <a:prstGeom prst="rect">
            <a:avLst/>
          </a:prstGeom>
          <a:noFill/>
        </p:spPr>
        <p:txBody>
          <a:bodyPr wrap="square">
            <a:spAutoFit/>
          </a:bodyPr>
          <a:lstStyle/>
          <a:p>
            <a:r>
              <a:rPr lang="en-IN" sz="2400" b="1" dirty="0"/>
              <a:t>Future Scope</a:t>
            </a:r>
          </a:p>
          <a:p>
            <a:pPr>
              <a:buFont typeface="+mj-lt"/>
              <a:buAutoNum type="arabicPeriod"/>
            </a:pPr>
            <a:r>
              <a:rPr lang="en-IN" sz="1600" b="1" dirty="0"/>
              <a:t>AI &amp; Mobile Integration:</a:t>
            </a:r>
            <a:r>
              <a:rPr lang="en-IN" sz="1600" dirty="0"/>
              <a:t> Add face recognition and develop mobile apps for better accessibility.</a:t>
            </a:r>
          </a:p>
          <a:p>
            <a:pPr>
              <a:buFont typeface="+mj-lt"/>
              <a:buAutoNum type="arabicPeriod"/>
            </a:pPr>
            <a:endParaRPr lang="en-IN" sz="1600" dirty="0"/>
          </a:p>
          <a:p>
            <a:pPr>
              <a:buFont typeface="+mj-lt"/>
              <a:buAutoNum type="arabicPeriod"/>
            </a:pPr>
            <a:r>
              <a:rPr lang="en-US" sz="1600" b="1" dirty="0"/>
              <a:t>Aadhar &amp; ABC </a:t>
            </a:r>
            <a:r>
              <a:rPr lang="en-IN" sz="1600" b="1" dirty="0"/>
              <a:t>Integration </a:t>
            </a:r>
            <a:r>
              <a:rPr lang="en-US" sz="1600" b="1" dirty="0"/>
              <a:t>:</a:t>
            </a:r>
            <a:r>
              <a:rPr lang="en-US" sz="1600" dirty="0"/>
              <a:t> Ensures secure identity verification with Aadhar and seamless academic credit management via ABC.</a:t>
            </a:r>
            <a:endParaRPr lang="en-IN" sz="1600" dirty="0"/>
          </a:p>
          <a:p>
            <a:pPr>
              <a:buFont typeface="+mj-lt"/>
              <a:buAutoNum type="arabicPeriod"/>
            </a:pPr>
            <a:endParaRPr lang="en-IN" sz="1600" dirty="0"/>
          </a:p>
          <a:p>
            <a:pPr>
              <a:buFont typeface="+mj-lt"/>
              <a:buAutoNum type="arabicPeriod"/>
            </a:pPr>
            <a:r>
              <a:rPr lang="en-IN" sz="1600" b="1" dirty="0"/>
              <a:t>Eco-Friendly:</a:t>
            </a:r>
            <a:r>
              <a:rPr lang="en-IN" sz="1600" dirty="0"/>
              <a:t> Further reduce paper usage and adopt energy-efficient hardware.</a:t>
            </a:r>
          </a:p>
          <a:p>
            <a:pPr>
              <a:buFont typeface="+mj-lt"/>
              <a:buAutoNum type="arabicPeriod"/>
            </a:pPr>
            <a:endParaRPr lang="en-IN" sz="1600" dirty="0"/>
          </a:p>
          <a:p>
            <a:pPr>
              <a:buFont typeface="+mj-lt"/>
              <a:buAutoNum type="arabicPeriod"/>
            </a:pPr>
            <a:r>
              <a:rPr lang="en-IN" sz="1600" b="1" dirty="0"/>
              <a:t>LMS Integration:</a:t>
            </a:r>
            <a:r>
              <a:rPr lang="en-IN" sz="1600" dirty="0"/>
              <a:t> Connect with platforms like Google Classroom.</a:t>
            </a:r>
          </a:p>
          <a:p>
            <a:pPr>
              <a:buFont typeface="+mj-lt"/>
              <a:buAutoNum type="arabicPeriod"/>
            </a:pPr>
            <a:endParaRPr lang="en-IN" sz="1600" dirty="0"/>
          </a:p>
          <a:p>
            <a:pPr>
              <a:buFont typeface="+mj-lt"/>
              <a:buAutoNum type="arabicPeriod"/>
            </a:pPr>
            <a:r>
              <a:rPr lang="en-IN" sz="1600" b="1" dirty="0"/>
              <a:t>IoT Expansion:</a:t>
            </a:r>
            <a:r>
              <a:rPr lang="en-IN" sz="1600" dirty="0"/>
              <a:t> Include biometric systems and more IoT devices for tracking.</a:t>
            </a:r>
          </a:p>
        </p:txBody>
      </p:sp>
    </p:spTree>
    <p:extLst>
      <p:ext uri="{BB962C8B-B14F-4D97-AF65-F5344CB8AC3E}">
        <p14:creationId xmlns:p14="http://schemas.microsoft.com/office/powerpoint/2010/main" val="299714414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1161</TotalTime>
  <Words>596</Words>
  <Application>Microsoft Office PowerPoint</Application>
  <PresentationFormat>Widescreen</PresentationFormat>
  <Paragraphs>73</Paragraphs>
  <Slides>5</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vt:i4>
      </vt:variant>
    </vt:vector>
  </HeadingPairs>
  <TitlesOfParts>
    <vt:vector size="12" baseType="lpstr">
      <vt:lpstr>ＭＳ Ｐゴシック</vt:lpstr>
      <vt:lpstr>Arial</vt:lpstr>
      <vt:lpstr>Calibri</vt:lpstr>
      <vt:lpstr>Corbel</vt:lpstr>
      <vt:lpstr>TradeGothic</vt:lpstr>
      <vt:lpstr>Office Theme</vt:lpstr>
      <vt:lpstr>Parallax</vt:lpstr>
      <vt:lpstr>SARVALINK</vt:lpstr>
      <vt:lpstr>SARVALINK</vt:lpstr>
      <vt:lpstr>TECHNICAL APPROACH</vt:lpstr>
      <vt:lpstr>FEASIBILITY AND VIABILITY</vt:lpstr>
      <vt:lpstr>FUTURE SCOPE &amp; IMPACT , BENEFITS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Vikram Devadiga</dc:creator>
  <cp:keywords/>
  <dc:description/>
  <cp:lastModifiedBy>AMIT RAJEGAONKAR</cp:lastModifiedBy>
  <cp:revision>24</cp:revision>
  <dcterms:created xsi:type="dcterms:W3CDTF">2024-09-02T19:58:34Z</dcterms:created>
  <dcterms:modified xsi:type="dcterms:W3CDTF">2024-10-18T19:50:02Z</dcterms:modified>
  <cp:category/>
</cp:coreProperties>
</file>